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5" r:id="rId14"/>
    <p:sldId id="274" r:id="rId15"/>
    <p:sldId id="273" r:id="rId16"/>
    <p:sldId id="272" r:id="rId17"/>
    <p:sldId id="271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AA09E-3B54-3044-039D-8FFCB07E19AA}" v="34" dt="2026-04-04T19:43:49.540"/>
    <p1510:client id="{D386DCBB-C46F-3521-6FCA-E44492041F0A}" v="424" dt="2026-04-04T18:39:46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CST-391 Milestone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Rodrigo </a:t>
            </a:r>
            <a:r>
              <a:rPr lang="en-US" dirty="0" err="1"/>
              <a:t>Cornidez</a:t>
            </a:r>
            <a:endParaRPr lang="en-US"/>
          </a:p>
          <a:p>
            <a:r>
              <a:rPr lang="en-US"/>
              <a:t>April 4,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145F-1337-62A7-2ADD-0E6669EF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766E-BDC6-9BED-8D9A-BB6D92EC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91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100" b="1">
                <a:ea typeface="+mn-lt"/>
                <a:cs typeface="+mn-lt"/>
              </a:rPr>
              <a:t>Back End</a:t>
            </a:r>
            <a:endParaRPr lang="en-US" sz="2100" b="1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100" dirty="0">
                <a:ea typeface="+mn-lt"/>
                <a:cs typeface="+mn-lt"/>
              </a:rPr>
              <a:t>User authentication &amp; secure API key storage (GitHub, </a:t>
            </a:r>
            <a:r>
              <a:rPr lang="en-US" sz="2100" dirty="0" err="1">
                <a:ea typeface="+mn-lt"/>
                <a:cs typeface="+mn-lt"/>
              </a:rPr>
              <a:t>DigitalOcean</a:t>
            </a:r>
            <a:r>
              <a:rPr lang="en-US" sz="2100" dirty="0">
                <a:ea typeface="+mn-lt"/>
                <a:cs typeface="+mn-lt"/>
              </a:rPr>
              <a:t>)</a:t>
            </a:r>
            <a:endParaRPr lang="en-US" sz="2100" dirty="0"/>
          </a:p>
          <a:p>
            <a:pPr>
              <a:buFont typeface="Arial"/>
            </a:pPr>
            <a:r>
              <a:rPr lang="en-US" sz="2100">
                <a:ea typeface="+mn-lt"/>
                <a:cs typeface="+mn-lt"/>
              </a:rPr>
              <a:t>Payment info storage, subscription tracking &amp; billing</a:t>
            </a:r>
            <a:endParaRPr lang="en-US" sz="2100" dirty="0"/>
          </a:p>
          <a:p>
            <a:pPr>
              <a:buFont typeface="Arial"/>
            </a:pPr>
            <a:r>
              <a:rPr lang="en-US" sz="2100" dirty="0">
                <a:ea typeface="+mn-lt"/>
                <a:cs typeface="+mn-lt"/>
              </a:rPr>
              <a:t>Provisioned server </a:t>
            </a:r>
            <a:r>
              <a:rPr lang="en-US" sz="2100">
                <a:ea typeface="+mn-lt"/>
                <a:cs typeface="+mn-lt"/>
              </a:rPr>
              <a:t>tracking</a:t>
            </a:r>
            <a:endParaRPr lang="en-US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1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Front</a:t>
            </a:r>
            <a:r>
              <a:rPr lang="en-US" sz="2100" b="1" dirty="0">
                <a:ea typeface="+mn-lt"/>
                <a:cs typeface="+mn-lt"/>
              </a:rPr>
              <a:t> End (Angular &amp; React)</a:t>
            </a:r>
            <a:endParaRPr lang="en-US" sz="2100" dirty="0"/>
          </a:p>
          <a:p>
            <a:pPr>
              <a:buFont typeface="Arial"/>
            </a:pPr>
            <a:r>
              <a:rPr lang="en-US" sz="2100">
                <a:ea typeface="+mn-lt"/>
                <a:cs typeface="+mn-lt"/>
              </a:rPr>
              <a:t>Landing, login/sign-up, and dashboard pages</a:t>
            </a:r>
            <a:endParaRPr lang="en-US" sz="2100" dirty="0"/>
          </a:p>
          <a:p>
            <a:pPr>
              <a:buFont typeface="Arial"/>
            </a:pPr>
            <a:r>
              <a:rPr lang="en-US" sz="2100">
                <a:ea typeface="+mn-lt"/>
                <a:cs typeface="+mn-lt"/>
              </a:rPr>
              <a:t>Dashboard sections: Getting Started, How-To Guides, Features, Keys, Account, Billing</a:t>
            </a:r>
            <a:endParaRPr lang="en-US" sz="2100" dirty="0"/>
          </a:p>
          <a:p>
            <a:pPr>
              <a:buFont typeface="Arial"/>
            </a:pPr>
            <a:r>
              <a:rPr lang="en-US" sz="2100">
                <a:ea typeface="+mn-lt"/>
                <a:cs typeface="+mn-lt"/>
              </a:rPr>
              <a:t>Domain-based API clients: Auth, API Keys, Billing, Subscriptions</a:t>
            </a:r>
            <a:endParaRPr lang="en-US" sz="2100" dirty="0"/>
          </a:p>
          <a:p>
            <a:pPr>
              <a:buFont typeface="Arial"/>
            </a:pPr>
            <a:r>
              <a:rPr lang="en-US" sz="2100" dirty="0">
                <a:ea typeface="+mn-lt"/>
                <a:cs typeface="+mn-lt"/>
              </a:rPr>
              <a:t>Shared components: Confirmation Modal, </a:t>
            </a:r>
            <a:r>
              <a:rPr lang="en-US" sz="2100" dirty="0" err="1">
                <a:ea typeface="+mn-lt"/>
                <a:cs typeface="+mn-lt"/>
              </a:rPr>
              <a:t>Snackbar</a:t>
            </a:r>
            <a:r>
              <a:rPr lang="en-US" sz="2100" dirty="0">
                <a:ea typeface="+mn-lt"/>
                <a:cs typeface="+mn-lt"/>
              </a:rPr>
              <a:t> notifications</a:t>
            </a:r>
            <a:endParaRPr lang="en-US" sz="2100" dirty="0"/>
          </a:p>
          <a:p>
            <a:pPr>
              <a:buFont typeface="Arial"/>
            </a:pPr>
            <a:r>
              <a:rPr lang="en-US" sz="2100">
                <a:ea typeface="+mn-lt"/>
                <a:cs typeface="+mn-lt"/>
              </a:rPr>
              <a:t>Auth interceptor with auto-redirect to login</a:t>
            </a:r>
            <a:endParaRPr lang="en-US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30790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37A7-45D2-6223-6E49-542126AF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0AA41-D844-2318-3087-48868289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1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Back End</a:t>
            </a:r>
            <a:endParaRPr lang="en-US" sz="2100" dirty="0"/>
          </a:p>
          <a:p>
            <a:r>
              <a:rPr lang="en-US" sz="2100" dirty="0">
                <a:ea typeface="+mn-lt"/>
                <a:cs typeface="+mn-lt"/>
              </a:rPr>
              <a:t>Mocking external services (Stripe, </a:t>
            </a:r>
            <a:r>
              <a:rPr lang="en-US" sz="2100" dirty="0" err="1">
                <a:ea typeface="+mn-lt"/>
                <a:cs typeface="+mn-lt"/>
              </a:rPr>
              <a:t>DigitalOcean</a:t>
            </a:r>
            <a:r>
              <a:rPr lang="en-US" sz="2100" dirty="0">
                <a:ea typeface="+mn-lt"/>
                <a:cs typeface="+mn-lt"/>
              </a:rPr>
              <a:t>) for testing</a:t>
            </a:r>
            <a:endParaRPr lang="en-US" sz="2100" dirty="0"/>
          </a:p>
          <a:p>
            <a:r>
              <a:rPr lang="en-US" sz="2100" dirty="0">
                <a:ea typeface="+mn-lt"/>
                <a:cs typeface="+mn-lt"/>
              </a:rPr>
              <a:t>Refining provisioning and billing </a:t>
            </a:r>
            <a:r>
              <a:rPr lang="en-US" sz="2100">
                <a:ea typeface="+mn-lt"/>
                <a:cs typeface="+mn-lt"/>
              </a:rPr>
              <a:t>logic for testing. This separating active (read-only) </a:t>
            </a:r>
            <a:r>
              <a:rPr lang="en-US" sz="2100" dirty="0">
                <a:ea typeface="+mn-lt"/>
                <a:cs typeface="+mn-lt"/>
              </a:rPr>
              <a:t>from passive (scheduled/automated) billing actions</a:t>
            </a:r>
            <a:endParaRPr lang="en-US" sz="2100" dirty="0"/>
          </a:p>
          <a:p>
            <a:pPr marL="0" indent="0">
              <a:buNone/>
            </a:pPr>
            <a:endParaRPr lang="en-US" sz="21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Front End (Angular)</a:t>
            </a:r>
            <a:endParaRPr lang="en-US" sz="2100" dirty="0"/>
          </a:p>
          <a:p>
            <a:r>
              <a:rPr lang="en-US" sz="2100" dirty="0">
                <a:ea typeface="+mn-lt"/>
                <a:cs typeface="+mn-lt"/>
              </a:rPr>
              <a:t>Learning </a:t>
            </a:r>
            <a:r>
              <a:rPr lang="en-US" sz="2100" dirty="0" err="1">
                <a:ea typeface="+mn-lt"/>
                <a:cs typeface="+mn-lt"/>
              </a:rPr>
              <a:t>Angular's</a:t>
            </a:r>
            <a:r>
              <a:rPr lang="en-US" sz="2100" dirty="0">
                <a:ea typeface="+mn-lt"/>
                <a:cs typeface="+mn-lt"/>
              </a:rPr>
              <a:t> template, logic, and style syntax</a:t>
            </a:r>
          </a:p>
          <a:p>
            <a:r>
              <a:rPr lang="en-US" sz="2100">
                <a:ea typeface="+mn-lt"/>
                <a:cs typeface="+mn-lt"/>
              </a:rPr>
              <a:t>Working with template decorators and component-scoped styling</a:t>
            </a:r>
            <a:endParaRPr lang="en-US" sz="2100" dirty="0"/>
          </a:p>
          <a:p>
            <a:pPr marL="0" indent="0">
              <a:buNone/>
            </a:pPr>
            <a:endParaRPr lang="en-US" sz="21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Front End (React)</a:t>
            </a:r>
            <a:endParaRPr lang="en-US" sz="2100" dirty="0"/>
          </a:p>
          <a:p>
            <a:r>
              <a:rPr lang="en-US" sz="2100" dirty="0">
                <a:ea typeface="+mn-lt"/>
                <a:cs typeface="+mn-lt"/>
              </a:rPr>
              <a:t>Learning React hooks: </a:t>
            </a:r>
            <a:r>
              <a:rPr lang="en-US" sz="2100" dirty="0" err="1">
                <a:ea typeface="+mn-lt"/>
                <a:cs typeface="+mn-lt"/>
              </a:rPr>
              <a:t>useState</a:t>
            </a:r>
            <a:r>
              <a:rPr lang="en-US" sz="2100" dirty="0">
                <a:ea typeface="+mn-lt"/>
                <a:cs typeface="+mn-lt"/>
              </a:rPr>
              <a:t>, </a:t>
            </a:r>
            <a:r>
              <a:rPr lang="en-US" sz="2100" dirty="0" err="1">
                <a:ea typeface="+mn-lt"/>
                <a:cs typeface="+mn-lt"/>
              </a:rPr>
              <a:t>useRef</a:t>
            </a:r>
            <a:r>
              <a:rPr lang="en-US" sz="2100" dirty="0">
                <a:ea typeface="+mn-lt"/>
                <a:cs typeface="+mn-lt"/>
              </a:rPr>
              <a:t>, </a:t>
            </a:r>
            <a:r>
              <a:rPr lang="en-US" sz="2100" dirty="0" err="1">
                <a:ea typeface="+mn-lt"/>
                <a:cs typeface="+mn-lt"/>
              </a:rPr>
              <a:t>useEffect</a:t>
            </a:r>
            <a:r>
              <a:rPr lang="en-US" sz="2100" dirty="0">
                <a:ea typeface="+mn-lt"/>
                <a:cs typeface="+mn-lt"/>
              </a:rPr>
              <a:t>, </a:t>
            </a:r>
            <a:r>
              <a:rPr lang="en-US" sz="2100" dirty="0" err="1">
                <a:ea typeface="+mn-lt"/>
                <a:cs typeface="+mn-lt"/>
              </a:rPr>
              <a:t>useContext</a:t>
            </a:r>
            <a:endParaRPr lang="en-US" sz="2100" dirty="0">
              <a:ea typeface="+mn-lt"/>
              <a:cs typeface="+mn-lt"/>
            </a:endParaRPr>
          </a:p>
          <a:p>
            <a:r>
              <a:rPr lang="en-US" sz="2100">
                <a:ea typeface="+mn-lt"/>
                <a:cs typeface="+mn-lt"/>
              </a:rPr>
              <a:t>Resolving CSS class name conflicts through targeted cleanup</a:t>
            </a:r>
            <a:endParaRPr lang="en-US" sz="2100" dirty="0"/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181119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CD73-8D03-C70A-71C5-31E81C66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TODO/Pending Bugs  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4CB64-65DD-E3AD-E7AB-EC27B7BBD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Back End</a:t>
            </a:r>
            <a:endParaRPr lang="en-US" sz="2100" dirty="0"/>
          </a:p>
          <a:p>
            <a:r>
              <a:rPr lang="en-US" sz="2100" dirty="0">
                <a:ea typeface="+mn-lt"/>
                <a:cs typeface="+mn-lt"/>
              </a:rPr>
              <a:t>Integrate real </a:t>
            </a:r>
            <a:r>
              <a:rPr lang="en-US" sz="2100">
                <a:ea typeface="+mn-lt"/>
                <a:cs typeface="+mn-lt"/>
              </a:rPr>
              <a:t>Digital Ocean</a:t>
            </a:r>
            <a:r>
              <a:rPr lang="en-US" sz="2100" dirty="0">
                <a:ea typeface="+mn-lt"/>
                <a:cs typeface="+mn-lt"/>
              </a:rPr>
              <a:t> SDK/API to replace mock provisioning service</a:t>
            </a:r>
          </a:p>
          <a:p>
            <a:r>
              <a:rPr lang="en-US" sz="2100">
                <a:ea typeface="+mn-lt"/>
                <a:cs typeface="+mn-lt"/>
              </a:rPr>
              <a:t>Implement scheduled billing. Automate monthly/annual bill creation and payment handling</a:t>
            </a:r>
            <a:endParaRPr lang="en-US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1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Front End (Angular &amp; React)</a:t>
            </a:r>
            <a:endParaRPr lang="en-US" sz="2100" dirty="0"/>
          </a:p>
          <a:p>
            <a:r>
              <a:rPr lang="en-US" sz="2100">
                <a:ea typeface="+mn-lt"/>
                <a:cs typeface="+mn-lt"/>
              </a:rPr>
              <a:t>Build out How-To Guides and Feature Voting sections. Currently placeholders; requires new DB table, API endpoints, and client-side service/component logic</a:t>
            </a:r>
            <a:endParaRPr lang="en-US" sz="2100" dirty="0">
              <a:ea typeface="+mn-lt"/>
              <a:cs typeface="+mn-lt"/>
            </a:endParaRP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292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84F3-F4B1-6DDB-AEA2-EB085064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1DE1-F56D-B52C-FC29-BA3E0C3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196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Architecture &amp; Planning</a:t>
            </a:r>
            <a:endParaRPr lang="en-US" sz="2100" dirty="0"/>
          </a:p>
          <a:p>
            <a:r>
              <a:rPr lang="en-US" sz="2100">
                <a:ea typeface="+mn-lt"/>
                <a:cs typeface="+mn-lt"/>
              </a:rPr>
              <a:t>MVC/Layered architecture streamlines aligning schemas, queries, and business logic</a:t>
            </a:r>
            <a:endParaRPr lang="en-US" sz="2100" dirty="0">
              <a:ea typeface="+mn-lt"/>
              <a:cs typeface="+mn-lt"/>
            </a:endParaRPr>
          </a:p>
          <a:p>
            <a:r>
              <a:rPr lang="en-US" sz="2100">
                <a:ea typeface="+mn-lt"/>
                <a:cs typeface="+mn-lt"/>
              </a:rPr>
              <a:t>Planning entity relationships and class fields/actions upfront speeds up development</a:t>
            </a:r>
            <a:endParaRPr lang="en-US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1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Front End (Angular &amp; React)</a:t>
            </a:r>
            <a:endParaRPr lang="en-US" sz="2100" dirty="0"/>
          </a:p>
          <a:p>
            <a:r>
              <a:rPr lang="en-US" sz="2100">
                <a:ea typeface="+mn-lt"/>
                <a:cs typeface="+mn-lt"/>
              </a:rPr>
              <a:t>Separating pages, components, utilities, services, and interceptors improves developer experience</a:t>
            </a:r>
            <a:endParaRPr lang="en-US" sz="2100" dirty="0">
              <a:ea typeface="+mn-lt"/>
              <a:cs typeface="+mn-lt"/>
            </a:endParaRPr>
          </a:p>
          <a:p>
            <a:r>
              <a:rPr lang="en-US" sz="2100">
                <a:ea typeface="+mn-lt"/>
                <a:cs typeface="+mn-lt"/>
              </a:rPr>
              <a:t>Component-scoped CSS is easier to manage than a single global stylesheet</a:t>
            </a:r>
            <a:endParaRPr lang="en-US" sz="2100" dirty="0"/>
          </a:p>
          <a:p>
            <a:pPr marL="0" indent="0">
              <a:buNone/>
            </a:pPr>
            <a:endParaRPr lang="en-US" sz="21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React-Specific</a:t>
            </a:r>
            <a:endParaRPr lang="en-US" sz="2100" dirty="0"/>
          </a:p>
          <a:p>
            <a:r>
              <a:rPr lang="en-US" sz="2100" dirty="0">
                <a:ea typeface="+mn-lt"/>
                <a:cs typeface="+mn-lt"/>
              </a:rPr>
              <a:t>Component CSS conflicts can be resolved using SCSS nesting or CSS component syntax</a:t>
            </a:r>
          </a:p>
          <a:p>
            <a:r>
              <a:rPr lang="en-US" sz="2100" dirty="0">
                <a:ea typeface="+mn-lt"/>
                <a:cs typeface="+mn-lt"/>
              </a:rPr>
              <a:t>Proper use of hooks </a:t>
            </a:r>
            <a:r>
              <a:rPr lang="en-US" sz="2100">
                <a:ea typeface="+mn-lt"/>
                <a:cs typeface="+mn-lt"/>
              </a:rPr>
              <a:t>enables clean state, </a:t>
            </a:r>
            <a:r>
              <a:rPr lang="en-US" sz="2100" dirty="0">
                <a:ea typeface="+mn-lt"/>
                <a:cs typeface="+mn-lt"/>
              </a:rPr>
              <a:t>DOM, and context management</a:t>
            </a:r>
            <a:endParaRPr lang="en-US" sz="2100" dirty="0"/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337584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B86E9-7440-643B-0241-BC38C3BC0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A0C8-3A6B-25FE-1A8F-D347D2D9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853E0-1F7E-FD87-8BF3-3B0021452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196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100" dirty="0"/>
              <a:t>From a Christian Worldview perspective. It is our</a:t>
            </a:r>
            <a:r>
              <a:rPr lang="en-US" sz="2100"/>
              <a:t> responsibility to love our neighbors. </a:t>
            </a:r>
            <a:r>
              <a:rPr lang="en-US" sz="2100" dirty="0"/>
              <a:t>Accessible design ensures no user is left behind, regardless of ability.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u="sng"/>
              <a:t>What It Means for UX</a:t>
            </a:r>
            <a:endParaRPr lang="en-US" u="sng"/>
          </a:p>
          <a:p>
            <a:pPr marL="342900" indent="-342900"/>
            <a:r>
              <a:rPr lang="en-US" sz="2100" b="1"/>
              <a:t>Broader reach</a:t>
            </a:r>
            <a:r>
              <a:rPr lang="en-US" sz="2100"/>
              <a:t>: sites work for users with visual, motor, auditory, or cognitive disabilities.</a:t>
            </a:r>
            <a:endParaRPr lang="en-US" sz="2100" dirty="0"/>
          </a:p>
          <a:p>
            <a:pPr marL="342900" indent="-342900"/>
            <a:r>
              <a:rPr lang="en-US" sz="2100" b="1"/>
              <a:t>Builds trust and inclusivity</a:t>
            </a:r>
            <a:r>
              <a:rPr lang="en-US" sz="2100"/>
              <a:t> into the product.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u="sng"/>
              <a:t>Best Practices</a:t>
            </a:r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Use semantic HTML</a:t>
            </a:r>
            <a:endParaRPr lang="en-US"/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Use sufficient color contrast and scalable font sizes</a:t>
            </a:r>
            <a:endParaRPr lang="en-US"/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Support keyboard navigation and screen readers</a:t>
            </a:r>
            <a:endParaRPr lang="en-US"/>
          </a:p>
          <a:p>
            <a:pPr marL="0" indent="0"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13581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B876-801D-8796-2407-7FE81E9E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5D283-5325-21EF-BD55-C5FEB61F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Angular – Landing Page</a:t>
            </a:r>
          </a:p>
        </p:txBody>
      </p:sp>
      <p:pic>
        <p:nvPicPr>
          <p:cNvPr id="4" name="Content Placeholder 3" descr="landing.png">
            <a:extLst>
              <a:ext uri="{FF2B5EF4-FFF2-40B4-BE49-F238E27FC236}">
                <a16:creationId xmlns:a16="http://schemas.microsoft.com/office/drawing/2014/main" id="{B3242A61-61E2-B97C-CE3C-966E13ABC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925" y="1690007"/>
            <a:ext cx="80828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1FA9-8DDC-0C43-EE27-83AD5E96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EAF9-099B-C5F0-BF7F-5D0BC8D5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– </a:t>
            </a:r>
            <a:r>
              <a:rPr lang="en-US"/>
              <a:t>Login Page</a:t>
            </a:r>
            <a:endParaRPr lang="en-US" dirty="0"/>
          </a:p>
        </p:txBody>
      </p:sp>
      <p:pic>
        <p:nvPicPr>
          <p:cNvPr id="3" name="Picture 2" descr="login.png">
            <a:extLst>
              <a:ext uri="{FF2B5EF4-FFF2-40B4-BE49-F238E27FC236}">
                <a16:creationId xmlns:a16="http://schemas.microsoft.com/office/drawing/2014/main" id="{9DEDB8E4-4E50-4CEF-07ED-F643655FA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58" y="1685498"/>
            <a:ext cx="8095340" cy="435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54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7D88-17CA-CFEE-0C06-54B74C85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1D34-303D-0F05-F49B-E6575CE3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Angular – Resources – Getting Started</a:t>
            </a:r>
          </a:p>
        </p:txBody>
      </p:sp>
      <p:pic>
        <p:nvPicPr>
          <p:cNvPr id="4" name="Picture 3" descr="getting_started.png">
            <a:extLst>
              <a:ext uri="{FF2B5EF4-FFF2-40B4-BE49-F238E27FC236}">
                <a16:creationId xmlns:a16="http://schemas.microsoft.com/office/drawing/2014/main" id="{B80511A7-4943-6FE9-2BA7-97FC119F8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022" y="1681861"/>
            <a:ext cx="8097793" cy="43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55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6513-13D4-8C80-5BED-81361856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1B5D-3047-2F04-B02D-2D6246B2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Angular – Resources – How To Guides</a:t>
            </a:r>
          </a:p>
        </p:txBody>
      </p:sp>
      <p:pic>
        <p:nvPicPr>
          <p:cNvPr id="3" name="Picture 2" descr="how_to_guides.png">
            <a:extLst>
              <a:ext uri="{FF2B5EF4-FFF2-40B4-BE49-F238E27FC236}">
                <a16:creationId xmlns:a16="http://schemas.microsoft.com/office/drawing/2014/main" id="{9DF885CB-B7F8-641F-2C49-201A6F07E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023" y="1693258"/>
            <a:ext cx="8097792" cy="434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05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0DCB0-19E9-4ED7-2D67-B5FAC280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A6B6-DA41-991D-6AC6-E7A30B79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Angular – Features</a:t>
            </a:r>
          </a:p>
        </p:txBody>
      </p:sp>
      <p:pic>
        <p:nvPicPr>
          <p:cNvPr id="4" name="Picture 3" descr="features.png">
            <a:extLst>
              <a:ext uri="{FF2B5EF4-FFF2-40B4-BE49-F238E27FC236}">
                <a16:creationId xmlns:a16="http://schemas.microsoft.com/office/drawing/2014/main" id="{7626E23F-232C-ED5F-AB97-FBE0E9CBF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023" y="1714183"/>
            <a:ext cx="8097792" cy="434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29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A069-5A3F-70AD-5325-2A3D2802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F19C-04E6-CB4C-0C0F-67A2E759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Angular – Settings</a:t>
            </a:r>
          </a:p>
        </p:txBody>
      </p:sp>
      <p:pic>
        <p:nvPicPr>
          <p:cNvPr id="3" name="Picture 2" descr="settings.png">
            <a:extLst>
              <a:ext uri="{FF2B5EF4-FFF2-40B4-BE49-F238E27FC236}">
                <a16:creationId xmlns:a16="http://schemas.microsoft.com/office/drawing/2014/main" id="{BA9E78C9-5D0D-7FDB-E0C1-959B59CBD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995" y="1692105"/>
            <a:ext cx="8097793" cy="434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70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4840F-0191-21CD-685E-034803DC5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622E-EF4F-9174-B766-3E68041D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– Landing Page</a:t>
            </a:r>
          </a:p>
        </p:txBody>
      </p:sp>
      <p:pic>
        <p:nvPicPr>
          <p:cNvPr id="3" name="Picture 2" descr="landing.png">
            <a:extLst>
              <a:ext uri="{FF2B5EF4-FFF2-40B4-BE49-F238E27FC236}">
                <a16:creationId xmlns:a16="http://schemas.microsoft.com/office/drawing/2014/main" id="{5389EEE0-DB7B-FF9A-E6E9-CFC99ABD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698" y="1692605"/>
            <a:ext cx="5780902" cy="498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48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7C9F-89BE-CDFC-B03E-1CE5C63D8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FFC7-F009-2A8F-5D2C-3361BCDE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– Login Page</a:t>
            </a:r>
            <a:endParaRPr lang="en-US" dirty="0"/>
          </a:p>
        </p:txBody>
      </p:sp>
      <p:pic>
        <p:nvPicPr>
          <p:cNvPr id="6" name="Picture 5" descr="login.png">
            <a:extLst>
              <a:ext uri="{FF2B5EF4-FFF2-40B4-BE49-F238E27FC236}">
                <a16:creationId xmlns:a16="http://schemas.microsoft.com/office/drawing/2014/main" id="{A744F820-AC44-EE53-ABEA-EF446AC78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697" y="1713199"/>
            <a:ext cx="5780902" cy="498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5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268-8790-44D2-3295-1DC99D13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9FB3-D779-4106-6FC9-5452F0F5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– Resources – Getting Started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EB47C5-54F6-AA51-342E-C70196602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86" y="1709352"/>
            <a:ext cx="5775926" cy="499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33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5825C-1D0C-BA7F-E6BA-7B85D422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481D2-3A90-00A1-02FB-DFA6992C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– Resources – How To Guides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0C9D1A-C1A8-FF4C-CF9D-F7AFF33D1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86" y="1688757"/>
            <a:ext cx="5775926" cy="49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98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9B6A-FF98-A0C8-4765-37F88B4B8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FE721-8C17-78F1-1EC9-2D32B14F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</a:t>
            </a:r>
            <a:r>
              <a:rPr lang="en-US" dirty="0"/>
              <a:t>t – Features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F30017-A751-694E-CEB8-E52811F7F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86" y="1688757"/>
            <a:ext cx="5775926" cy="49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40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ACE5-3CE2-7930-28D2-00A5A9A7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CC9C-045C-6DE2-C570-D06CF4361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– Settings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CD38D1-2AFA-4F20-4BAD-7D7D97ED6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86" y="1709352"/>
            <a:ext cx="5775926" cy="499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8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CST-391 Milestone 6</vt:lpstr>
      <vt:lpstr>Features Built</vt:lpstr>
      <vt:lpstr>Challenges Encountered</vt:lpstr>
      <vt:lpstr>TODO/Pending Bugs  </vt:lpstr>
      <vt:lpstr>Lessons Learned</vt:lpstr>
      <vt:lpstr>Website Accessibility</vt:lpstr>
      <vt:lpstr>Angular – Landing Page</vt:lpstr>
      <vt:lpstr>Angular – Login Page</vt:lpstr>
      <vt:lpstr>Angular – Resources – Getting Started</vt:lpstr>
      <vt:lpstr>Angular – Resources – How To Guides</vt:lpstr>
      <vt:lpstr>Angular – Features</vt:lpstr>
      <vt:lpstr>Angular – Settings</vt:lpstr>
      <vt:lpstr>React – Landing Page</vt:lpstr>
      <vt:lpstr>React – Login Page</vt:lpstr>
      <vt:lpstr>React – Resources – Getting Started</vt:lpstr>
      <vt:lpstr>React – Resources – How To Guides</vt:lpstr>
      <vt:lpstr>React – Features</vt:lpstr>
      <vt:lpstr>React – Settings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204</cp:revision>
  <dcterms:created xsi:type="dcterms:W3CDTF">2026-04-04T17:51:51Z</dcterms:created>
  <dcterms:modified xsi:type="dcterms:W3CDTF">2026-04-04T20:16:06Z</dcterms:modified>
</cp:coreProperties>
</file>